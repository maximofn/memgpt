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7772400" y="-914400"/>
            <a:ext cx="6400800" cy="9144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720000">
            <a:off x="8686800" y="457200"/>
            <a:ext cx="5486400" cy="7315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875520" y="1188720"/>
            <a:ext cx="2377440" cy="2377440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389120"/>
            <a:ext cx="1463040" cy="1463040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4754880"/>
            <a:ext cx="822960" cy="822960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C9CFF"/>
                </a:solidFill>
                <a:latin typeface="Calibri"/>
              </a:rPr>
              <a:t>CHARLA TÉCNICA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E7ECF5"/>
                </a:solidFill>
                <a:latin typeface="Georgia"/>
              </a:rPr>
              <a:t>MemGPT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0">
                <a:solidFill>
                  <a:srgbClr val="9AA5BE"/>
                </a:solidFill>
                <a:latin typeface="Georgia"/>
              </a:rPr>
              <a:t>LLMs como sistemas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7ECF5"/>
                </a:solidFill>
                <a:latin typeface="Calibri"/>
              </a:rPr>
              <a:t>Memoria jerárquica auto-gestionada por el agente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52160"/>
            <a:ext cx="45720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Implementación sobre LangGraph · Pavel Kim 2023 · arXiv:2310.08560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C9CFF"/>
                </a:solidFill>
                <a:latin typeface="Calibri"/>
              </a:rPr>
              <a:t>Máximo Fernández · maximofn.com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La ventana de contexto se llena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D0B2"/>
                </a:solidFill>
                <a:latin typeface="Calibri"/>
              </a:rPr>
              <a:t>Síntoma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Un LLM tiene contexto finito.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Conversaciones largas, documentos grandes o tareas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de varios días desbordan inevitablemente.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Cuando se trunca, el agente olvida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decisiones, identidad y hechos clave.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Calibri"/>
              </a:rPr>
              <a:t>La idea de Karpathy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>“El LLM es la CPU; la ventana de contexto es la RAM.”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>Y si es una CPU… necesita un sistema operativo: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>memoria virtual, planificador, llamadas al sistema.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7ECF5"/>
                </a:solidFill>
                <a:latin typeface="Georgia"/>
              </a:rPr>
              <a:t>MemGPT lo construye.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ANALOGÍA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Memoria virtual para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7C9CFF"/>
                </a:solidFill>
                <a:latin typeface="Georgia"/>
              </a:rPr>
              <a:t>Sistema operativo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24912"/>
            <a:ext cx="128016" cy="128016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Ejecuta instrucciones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410712"/>
            <a:ext cx="128016" cy="128016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337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Pequeña, rápida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Disco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Grande, lento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2312"/>
            <a:ext cx="128016" cy="128016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Paginación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09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Mueve datos RAM ↔ disco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468112"/>
            <a:ext cx="128016" cy="128016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Syscalls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Procesos piden al 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9202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57D0B2"/>
                </a:solidFill>
                <a:latin typeface="Georgia"/>
              </a:rPr>
              <a:t>MemGPT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724912"/>
            <a:ext cx="128016" cy="128016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51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Ejecuta turnos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10712"/>
            <a:ext cx="128016" cy="128016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Ventana de 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337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Lo que ve en cada inferencia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096512"/>
            <a:ext cx="128016" cy="128016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Almacenamiento externo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Recall / Archival / MemFS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782312"/>
            <a:ext cx="128016" cy="128016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709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Queue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709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Expulsa y resume mensajes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5468112"/>
            <a:ext cx="128016" cy="128016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Function calls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El LLM pide leer/escribir memoria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QUÉ ES MEMGPT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Tres piezas, un agente que se administra solo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703320" cy="39319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64592" cy="393192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7C9C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7ECF5"/>
                </a:solidFill>
                <a:latin typeface="Georgia"/>
              </a:rPr>
              <a:t>Jerarquía de 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Rápida y pequeña (en contexto) +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lenta e ilimitada (fuera).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703320" cy="39319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164592" cy="393192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80" y="21945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57D0B2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7ECF5"/>
                </a:solidFill>
                <a:latin typeface="Georgia"/>
              </a:rPr>
              <a:t>Gestor de control de flujo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23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Decide cuándo invocar al LLM y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cuándo expulsar y resumir mensajes.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2011680"/>
            <a:ext cx="3703320" cy="39319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83880" y="2011680"/>
            <a:ext cx="164592" cy="393192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0" y="21945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0B44B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7ECF5"/>
                </a:solidFill>
                <a:latin typeface="Georgia"/>
              </a:rPr>
              <a:t>Funciones expuestas al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233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El propio modelo lee, escribe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E"/>
                </a:solidFill>
                <a:latin typeface="Calibri"/>
              </a:rPr>
              <a:t>y busca en su memoria.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126480"/>
            <a:ext cx="11247120" cy="2743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61264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Punto clave: el LLM es auto-dirigido — decide qué guardar y qué buscar.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ANATOMÍA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Cómo modifica MemGPT la ventana de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6949440" cy="43891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667512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46304" cy="82296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9CFF"/>
                </a:solidFill>
                <a:latin typeface="Georgia"/>
              </a:rPr>
              <a:t>System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774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Prompt + memGPT + funciones · solo lectura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6675120" cy="9144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14400" y="2743200"/>
            <a:ext cx="146304" cy="91440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8803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7D0B2"/>
                </a:solidFill>
                <a:latin typeface="Georgia"/>
              </a:rPr>
              <a:t>Working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918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Bloques etiquetados editables (assistant / human / custom)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49040"/>
            <a:ext cx="6675120" cy="21945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14400" y="3749040"/>
            <a:ext cx="146304" cy="219456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4440" y="38862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0B44B"/>
                </a:solidFill>
                <a:latin typeface="Georgia"/>
              </a:rPr>
              <a:t>FIFO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97680"/>
            <a:ext cx="6217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Slot 0: resumen recursivo  •  mensajes en orden cronológico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636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AA5BE"/>
                </a:solidFill>
                <a:latin typeface="Calibri"/>
              </a:rPr>
              <a:t>Ventana de contexto del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828800"/>
            <a:ext cx="3840480" cy="4389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9" y="19659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AA5BE"/>
                </a:solidFill>
                <a:latin typeface="Georgia"/>
              </a:rPr>
              <a:t>Agente 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33172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Window: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  [system prompt]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  [user/agent turns…]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3703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C9CFF"/>
                </a:solidFill>
                <a:latin typeface="Georgia"/>
              </a:rPr>
              <a:t>MemGPT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4069080"/>
            <a:ext cx="3474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Window: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  [system + memGPT prompt]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  [working context]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  [recursive summary]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  [user/agent + tool calls]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WORKING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La libreta del agente, siempre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7ECF5"/>
                </a:solidFill>
                <a:latin typeface="Calibri"/>
              </a:rPr>
              <a:t>Bloque pequeño en el prompt, editable solo por el LLM vía tools.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697480"/>
            <a:ext cx="118872" cy="118872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Tamaño fijo por bloque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060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Presupuesto de tokens; no crece.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264408"/>
            <a:ext cx="118872" cy="118872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Read /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1729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El LLM lo modifica; el harness, jamás.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831336"/>
            <a:ext cx="118872" cy="118872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Solo vía funciones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73989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core_memory_append · core_memory_replace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398264"/>
            <a:ext cx="118872" cy="118872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0682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Texto 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30682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Lenguaje natural, no JSON.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965192"/>
            <a:ext cx="118872" cy="118872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737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Persistente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7375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alibri"/>
              </a:rPr>
              <a:t>Sobrevive entre sesiones.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7451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Bloques típicos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423160"/>
            <a:ext cx="4846320" cy="11887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40880" y="25603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Identidad del agente: nombre, personalidad, rol.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2461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“Soy Sam, paciente y curiosa. No revelo que soy IA.”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749039"/>
            <a:ext cx="4846320" cy="11887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7040880" y="3886199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25195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Lo que el agente recuerda del usuario.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7199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“Ana, vive en Madrid, le gusta el surf.”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074920"/>
            <a:ext cx="4846320" cy="11887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040880" y="5212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custom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577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Bloques que el desarrollador añade.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897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task_context, project_constraints, team_members…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TOOLS DE CORE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Cómo edita el LLM su libreta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48640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D0B2"/>
                </a:solidFill>
                <a:latin typeface="Consolas"/>
              </a:rPr>
              <a:t>core_memory_append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Añade información al final del bloque.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4937760" cy="246888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core_memory_append(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  label="human",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  content="Cumpleaños: 7 de febrero"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8640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1993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B44B"/>
                </a:solidFill>
                <a:latin typeface="Consolas"/>
              </a:rPr>
              <a:t>core_memory_replace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Sustituye un fragmento (corrige, actualiza).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91840"/>
            <a:ext cx="4937760" cy="246888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3456432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core_memory_replace(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  label="human",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  old="novio James",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  new="ex-novio James"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onsolas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126480"/>
            <a:ext cx="11247120" cy="2743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61264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El LLM nunca escribe el bloque generando texto: solo a través de estas funciones.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FIFO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El flujo en vivo de la conversación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6766560" cy="4297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64008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6B7C"/>
                </a:solidFill>
                <a:latin typeface="Consolas"/>
              </a:rPr>
              <a:t>Resumen recursivo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305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“Lo que pasó antes”, regenerado al hacer flush.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78608"/>
            <a:ext cx="6400800" cy="5029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97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(user)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97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Hola, ¿te acuerdas dónde comimos?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45536"/>
            <a:ext cx="64008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26440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644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onsolas"/>
              </a:rPr>
              <a:t>(assistant)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26440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tool_call: recall_memory_search(query='comida pacifica')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12464"/>
            <a:ext cx="6400800" cy="5029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3831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3133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7D0B2"/>
                </a:solidFill>
                <a:latin typeface="Consolas"/>
              </a:rPr>
              <a:t>(tool_result)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83133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[03/12] “Taco Bell junto a la playa”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79392"/>
            <a:ext cx="64008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43982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982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(assistant)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3982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Sí, en el Taco Bell de Pacifica.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6400800" cy="5029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965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9651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B44B"/>
                </a:solidFill>
                <a:latin typeface="Consolas"/>
              </a:rPr>
              <a:t>(system)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9651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Memory Pressure: contexto al 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13248"/>
            <a:ext cx="64008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AA5BE"/>
                </a:solidFill>
                <a:latin typeface="Calibri"/>
              </a:rPr>
              <a:t>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5321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5BE"/>
                </a:solidFill>
                <a:latin typeface="Consolas"/>
              </a:rPr>
              <a:t>(expulsados)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5321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Se mueven a Recall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1264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↑ más antiguos (se expulsan)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61264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más recientes 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828800"/>
            <a:ext cx="4297680" cy="4389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399" y="19659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Entra en la FIFO</a:t>
            </a:r>
          </a:p>
        </p:txBody>
      </p:sp>
      <p:sp>
        <p:nvSpPr>
          <p:cNvPr id="39" name="Oval 38"/>
          <p:cNvSpPr/>
          <p:nvPr/>
        </p:nvSpPr>
        <p:spPr>
          <a:xfrm>
            <a:off x="7818119" y="2606040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39" y="2514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Mensajes de usuario y agente</a:t>
            </a:r>
          </a:p>
        </p:txBody>
      </p:sp>
      <p:sp>
        <p:nvSpPr>
          <p:cNvPr id="41" name="Oval 40"/>
          <p:cNvSpPr/>
          <p:nvPr/>
        </p:nvSpPr>
        <p:spPr>
          <a:xfrm>
            <a:off x="7818119" y="3108960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39" y="30175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Tool calls de MemGPT y otras tools</a:t>
            </a:r>
          </a:p>
        </p:txBody>
      </p:sp>
      <p:sp>
        <p:nvSpPr>
          <p:cNvPr id="43" name="Oval 42"/>
          <p:cNvSpPr/>
          <p:nvPr/>
        </p:nvSpPr>
        <p:spPr>
          <a:xfrm>
            <a:off x="7818119" y="3611880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39" y="35204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Resultados de las funciones</a:t>
            </a:r>
          </a:p>
        </p:txBody>
      </p:sp>
      <p:sp>
        <p:nvSpPr>
          <p:cNvPr id="45" name="Oval 44"/>
          <p:cNvSpPr/>
          <p:nvPr/>
        </p:nvSpPr>
        <p:spPr>
          <a:xfrm>
            <a:off x="7818119" y="4114800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39" y="40233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Mensajes del sistema (alertas, eventos)</a:t>
            </a:r>
          </a:p>
        </p:txBody>
      </p:sp>
      <p:sp>
        <p:nvSpPr>
          <p:cNvPr id="47" name="Oval 46"/>
          <p:cNvSpPr/>
          <p:nvPr/>
        </p:nvSpPr>
        <p:spPr>
          <a:xfrm>
            <a:off x="7818119" y="4617720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39" y="4526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Sellos temporales para anclar al agente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399" y="534924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E"/>
                </a:solidFill>
                <a:latin typeface="Calibri"/>
              </a:rPr>
              <a:t>Lo escribe el Queue Manager, no el LLM: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E"/>
                </a:solidFill>
                <a:latin typeface="Calibri"/>
              </a:rPr>
              <a:t>es un log automático.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UMBRALES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70 % avisa, 100 % expulsa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7232904" cy="822960"/>
          </a:xfrm>
          <a:prstGeom prst="roundRect">
            <a:avLst>
              <a:gd name="adj" fmla="val 12000"/>
            </a:avLst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47304" y="2743200"/>
            <a:ext cx="3099816" cy="82296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8147304" y="2560320"/>
            <a:ext cx="0" cy="1188720"/>
          </a:xfrm>
          <a:prstGeom prst="line">
            <a:avLst/>
          </a:prstGeom>
          <a:ln w="25400">
            <a:solidFill>
              <a:srgbClr val="F0B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15784" y="18745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B44B"/>
                </a:solidFill>
                <a:latin typeface="Calibri"/>
              </a:rPr>
              <a:t>70 %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3794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alibri"/>
              </a:rPr>
              <a:t>Warning · Memory Pressure Alert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20" y="2560320"/>
            <a:ext cx="0" cy="1188720"/>
          </a:xfrm>
          <a:prstGeom prst="line">
            <a:avLst/>
          </a:prstGeom>
          <a:ln w="25400">
            <a:solidFill>
              <a:srgbClr val="E86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0" y="18745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86B7C"/>
                </a:solidFill>
                <a:latin typeface="Calibri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7947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alibri"/>
              </a:rPr>
              <a:t>Flush · expulsa y 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5486400" cy="16459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B44B"/>
                </a:solidFill>
                <a:latin typeface="Georgia"/>
              </a:rPr>
              <a:t>Warning (70 %)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Se inyecta una alerta en la FIFO.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El LLM consolida lo importante en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Working Context, Archival o MemFS.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663440"/>
            <a:ext cx="5486400" cy="16459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37960" y="4800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86B7C"/>
                </a:solidFill>
                <a:latin typeface="Georgia"/>
              </a:rPr>
              <a:t>Flush (100 %)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120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El Queue Manager expulsa los mensajes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más viejos (~50 %) y regenera el resumen.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Nada se pierde: vive en Recall Storage.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RESUMEN RECURSIVO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Una llamada al LLM fuera del bucle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46304" cy="82296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Working Context actual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94760" y="2697480"/>
            <a:ext cx="1280160" cy="100584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33756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3337560"/>
            <a:ext cx="146304" cy="82296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Resumen previo (slot 0)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794760" y="3703320"/>
            <a:ext cx="1280160" cy="4572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38912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4389120"/>
            <a:ext cx="146304" cy="822960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Mensajes a expulsar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794760" y="3703320"/>
            <a:ext cx="1280160" cy="109728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310896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1422"/>
                </a:solidFill>
                <a:latin typeface="Georgia"/>
              </a:rPr>
              <a:t>Summarizer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6118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0E1422"/>
                </a:solidFill>
                <a:latin typeface="Calibri"/>
              </a:rPr>
              <a:t>Llamada independiente,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0E1422"/>
                </a:solidFill>
                <a:latin typeface="Calibri"/>
              </a:rPr>
              <a:t>prompt mínimo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83464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49456" y="2834640"/>
            <a:ext cx="146304" cy="82296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92440" y="30632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Nuevo resumen recursivo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269480" y="3246120"/>
            <a:ext cx="594360" cy="45720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63840" y="3886200"/>
            <a:ext cx="3931920" cy="82296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49456" y="3886200"/>
            <a:ext cx="146304" cy="82296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92440" y="4114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Calibri"/>
              </a:rPr>
              <a:t>Promociones a Working 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80" y="3703320"/>
            <a:ext cx="594360" cy="59436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532120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¿Por qué fuera del bucle? Si el contexto está al 100 %, no cabe ‘hazme un resumen’ encima.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El summarizer recibe su propio prompt, sin las System Instructions del agente principal.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RECALL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El log completo de la conversación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760720" cy="420624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¿Qué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2120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Historial completo, fuera del contexto.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Cada mensaje que entra a la FIFO se copia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automáticamente a Recall en el mismo turno.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Cuando se hace flush, nada se pierde: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los mensajes expulsados ya están en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920240"/>
            <a:ext cx="5212080" cy="42062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D0B2"/>
                </a:solidFill>
                <a:latin typeface="Georgia"/>
              </a:rPr>
              <a:t>Cómo lo usa el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606040"/>
            <a:ext cx="4663440" cy="6858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0" y="2697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recall_memory_search(query="...", page=N)</a:t>
            </a:r>
          </a:p>
        </p:txBody>
      </p:sp>
      <p:sp>
        <p:nvSpPr>
          <p:cNvPr id="13" name="Oval 12"/>
          <p:cNvSpPr/>
          <p:nvPr/>
        </p:nvSpPr>
        <p:spPr>
          <a:xfrm>
            <a:off x="6812280" y="3611880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Solo lectura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520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el LLM busca, no inserta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4114800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023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Búsqueda semántica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embeddings + similitud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4617720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526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Paginada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5262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evita ‘lost in the middle’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5120640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5029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Ilimitada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029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toda la historia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5623560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Persistente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5321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entre sesiones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ARCHIVAL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Lo que el agente decide guardar a largo plazo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703320" cy="54864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1422"/>
                </a:solidFill>
                <a:latin typeface="Georgia"/>
              </a:rPr>
              <a:t>¿Qué entra?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3375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Texto arbitrario que el LLM elige persistir: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• resúmenes propios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• hechos sueltos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• documentos del usuario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• conclusiones de la sesión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703320" cy="54864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1422"/>
                </a:solidFill>
                <a:latin typeface="Georgia"/>
              </a:rPr>
              <a:t>Escritura explícita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33375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archival_memory_insert(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  content="…"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Solo entra lo que el LLM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decide insertar. Recall, 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920240"/>
            <a:ext cx="37033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83880" y="1920240"/>
            <a:ext cx="3703320" cy="54864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58200" y="199339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E1422"/>
                </a:solidFill>
                <a:latin typeface="Georgia"/>
              </a:rPr>
              <a:t>Lectura iterativa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697480"/>
            <a:ext cx="333756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archival_memory_search(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  query="…", page=N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Embeddings + paginación.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El LLM repite, reformula, pagina.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ARCHIVAL VS RAG CLÁSICO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Mismo motor, distinto director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017520" cy="54864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7ECF5"/>
                </a:solidFill>
                <a:latin typeface="Georgia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920240"/>
            <a:ext cx="42062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9AA5BE"/>
                </a:solidFill>
                <a:latin typeface="Georgia"/>
              </a:rPr>
              <a:t>RAG clásico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80" y="1920240"/>
            <a:ext cx="420624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C9CFF"/>
                </a:solidFill>
                <a:latin typeface="Georgia"/>
              </a:rPr>
              <a:t>Archival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42032"/>
            <a:ext cx="11430000" cy="7315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Quién decide buscar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72491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El pipeline, siempre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72491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El LLM, solo si lo necesita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9272"/>
            <a:ext cx="11430000" cy="7315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5021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Iteración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50215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Un disparo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50215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Paginar, reformular, reintentar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96511"/>
            <a:ext cx="11430000" cy="7315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279391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Escritura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279391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Corpus estático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279391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El LLM puede archival_memory_insert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73752"/>
            <a:ext cx="11430000" cy="7315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50566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Calibri"/>
              </a:rPr>
              <a:t>Resultado top-K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05663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Inyectado al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505663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El LLM lee y decide qué hacer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60720"/>
            <a:ext cx="11247120" cy="6400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87044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C9CFF"/>
                </a:solidFill>
                <a:latin typeface="Calibri"/>
              </a:rPr>
              <a:t>Archival = RAG (motor) + control del LLM (cuándo, cómo, cuántas veces) + escritura por el agente.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MEMFS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Memoria como filesystem versionado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02920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C9CFF"/>
                </a:solidFill>
                <a:latin typeface="Consolas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├── users/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│   └── maximo/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369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│       └── objetivos-q2.md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210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├── projects/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050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│   └── portafolio/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│       ├── decisiones.md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│       └── notas.md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572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└── learning/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412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5BE"/>
                </a:solidFill>
                <a:latin typeface="Consolas"/>
              </a:rPr>
              <a:t>    └── spanish/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920240"/>
            <a:ext cx="5989320" cy="23774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89320" y="2057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9CFF"/>
                </a:solidFill>
                <a:latin typeface="Georgia"/>
              </a:rPr>
              <a:t>Tools de MemFS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603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memfs.create(path, content)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memfs.read(path)        memfs.write(path, content)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memfs.list(path)        memfs.move(src, dst)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memfs.grep(path, q)     memfs.history(path)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memfs.rollback(path, version)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4434840"/>
            <a:ext cx="5989320" cy="1783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20" y="4526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7D0B2"/>
                </a:solidFill>
                <a:latin typeface="Georgia"/>
              </a:rPr>
              <a:t>Por qué versionado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5056632"/>
            <a:ext cx="100584" cy="100584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0109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Proyectos largos en árbol jerárquico</a:t>
            </a:r>
          </a:p>
        </p:txBody>
      </p:sp>
      <p:sp>
        <p:nvSpPr>
          <p:cNvPr id="24" name="Oval 23"/>
          <p:cNvSpPr/>
          <p:nvPr/>
        </p:nvSpPr>
        <p:spPr>
          <a:xfrm>
            <a:off x="6035040" y="5349240"/>
            <a:ext cx="100584" cy="100584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303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Trazabilidad: cómo evolucionó un fichero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5641848"/>
            <a:ext cx="100584" cy="100584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59612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Rollback si el agente sobrescribe por error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0" y="5934456"/>
            <a:ext cx="100584" cy="100584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88873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Pizarra compartida entre multi-agentes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WORKING / ARCHIVAL / MEMFS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Tres memorias que coexisten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377440" cy="50292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984247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874519"/>
            <a:ext cx="301752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80360" y="1874519"/>
            <a:ext cx="3017520" cy="73152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63240" y="1984247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C9CFF"/>
                </a:solidFill>
                <a:latin typeface="Georgia"/>
              </a:rPr>
              <a:t>Working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874519"/>
            <a:ext cx="320040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897880" y="1874519"/>
            <a:ext cx="3200400" cy="73152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80760" y="1984247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7D0B2"/>
                </a:solidFill>
                <a:latin typeface="Georgia"/>
              </a:rPr>
              <a:t>Archival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874519"/>
            <a:ext cx="274320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98280" y="1874519"/>
            <a:ext cx="2743200" cy="73152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81160" y="1984247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B44B"/>
                </a:solidFill>
                <a:latin typeface="Georgia"/>
              </a:rPr>
              <a:t>MemFS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11338560" cy="54864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Dónde vive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6060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En la ventana de 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060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BD vectorial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Filesystem versionado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63240"/>
            <a:ext cx="11338560" cy="54864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3200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Tamaño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2004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Pequeño (tokens)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2004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Ilimitado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20040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Ilimitado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57600"/>
            <a:ext cx="11338560" cy="54864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Siempre visible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7947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Sí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7947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No (buscar)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79476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No (navegar)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51960"/>
            <a:ext cx="11338560" cy="54864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Búsqueda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389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Directa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3891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Semántica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38912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Path + grep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846320"/>
            <a:ext cx="11338560" cy="54864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49834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Versionado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9834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9834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9834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Sí, tipo git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440680"/>
            <a:ext cx="11338560" cy="54864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55778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7ECF5"/>
                </a:solidFill>
                <a:latin typeface="Calibri"/>
              </a:rPr>
              <a:t>Coste por uso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5778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Tokens en cada turno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5778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Tool call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5778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5BE"/>
                </a:solidFill>
                <a:latin typeface="Calibri"/>
              </a:rPr>
              <a:t>Tool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DECIDIR DÓNDE GUARDAR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Regla del agente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703320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422"/>
                </a:solidFill>
                <a:latin typeface="Georgia"/>
              </a:rPr>
              <a:t>Working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Si el dato es…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Crítico, debe verse en cada turno.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Identidad, preferencias clave,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estado actual del usuario.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Ejemplo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983480"/>
            <a:ext cx="3154680" cy="128016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“El usuario es Máximo,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prefiere español, usa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LangGraph + Astro.”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43400" y="1874519"/>
            <a:ext cx="3703320" cy="64008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422"/>
                </a:solidFill>
                <a:latin typeface="Georgia"/>
              </a:rPr>
              <a:t>Archival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Si el dato es…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08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Voluminoso, no sabes cuándo lo necesitarás.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Búsqueda por significado a posteriori.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177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Ejemplo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983480"/>
            <a:ext cx="3154680" cy="128016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754880" y="5074920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“El usuario eligió pgvector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porque…” →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recuperable meses después.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874519"/>
            <a:ext cx="3703320" cy="443484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83880" y="1874519"/>
            <a:ext cx="3703320" cy="64008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58200" y="20116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1422"/>
                </a:solidFill>
                <a:latin typeface="Georgia"/>
              </a:rPr>
              <a:t>MemFS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Si el dato es…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108960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Estructurado, evoluciona en el tiempo,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necesitas historial.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6177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Ejemplo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4983480"/>
            <a:ext cx="3154680" cy="128016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95360" y="5074920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/projects/portafolio/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  decisiones.md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7ECF5"/>
                </a:solidFill>
                <a:latin typeface="Consolas"/>
              </a:rPr>
              <a:t>+ memfs.history(...)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CICLO DE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Qué pasa cuando llega un evento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2054291" cy="18288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2054291" cy="36576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C9CF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>Evento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7799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Mensaje, alerta o tick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57211.0" y="3291840.0"/>
            <a:ext cx="228600.0" cy="0.0"/>
          </a:xfrm>
          <a:prstGeom prst="line">
            <a:avLst/>
          </a:prstGeom>
          <a:ln w="2794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5811" y="2377440"/>
            <a:ext cx="2054291" cy="18288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785811" y="2377440"/>
            <a:ext cx="2054291" cy="36576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77251" y="274320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57D0B2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2971" y="329184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>Queue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971" y="3657600"/>
            <a:ext cx="17799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Añade a FIFO + Recall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0102.0" y="3291840.0"/>
            <a:ext cx="228600.0" cy="0.0"/>
          </a:xfrm>
          <a:prstGeom prst="line">
            <a:avLst/>
          </a:prstGeom>
          <a:ln w="2794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68702" y="2377440"/>
            <a:ext cx="2054291" cy="18288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68702" y="2377440"/>
            <a:ext cx="2054291" cy="36576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60142" y="274320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0B44B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5862" y="329184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>Pressure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5862" y="3657600"/>
            <a:ext cx="17799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¿70 % / 100 %?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2993.0" y="3291840.0"/>
            <a:ext cx="228600.0" cy="0.0"/>
          </a:xfrm>
          <a:prstGeom prst="line">
            <a:avLst/>
          </a:prstGeom>
          <a:ln w="2794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51593" y="2377440"/>
            <a:ext cx="2054291" cy="18288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351593" y="2377440"/>
            <a:ext cx="2054291" cy="36576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43033" y="274320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C9CFF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753" y="329184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>Inferencia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753" y="3657600"/>
            <a:ext cx="17799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Prompt = system + Core + FIFO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05884.0" y="3291840.0"/>
            <a:ext cx="228600.0" cy="0.0"/>
          </a:xfrm>
          <a:prstGeom prst="line">
            <a:avLst/>
          </a:prstGeom>
          <a:ln w="2794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34484" y="2377440"/>
            <a:ext cx="2054291" cy="182880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634484" y="2377440"/>
            <a:ext cx="2054291" cy="365760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25924" y="274320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86B7C"/>
                </a:solidFill>
                <a:latin typeface="Georgi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1644" y="329184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7ECF5"/>
                </a:solidFill>
                <a:latin typeface="Georgia"/>
              </a:rPr>
              <a:t>¿Tool call?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1644" y="3657600"/>
            <a:ext cx="177997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Sí → ejecutar y repetir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AA5BE"/>
                </a:solidFill>
                <a:latin typeface="Calibri"/>
              </a:rPr>
              <a:t>No → respuesta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30065.5" y="4343400"/>
            <a:ext cx="0.0" cy="594360"/>
          </a:xfrm>
          <a:prstGeom prst="line">
            <a:avLst/>
          </a:prstGeom>
          <a:ln w="15240">
            <a:solidFill>
              <a:srgbClr val="9AA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30065.5" y="4937760"/>
            <a:ext cx="9131564.0" cy="0"/>
          </a:xfrm>
          <a:prstGeom prst="line">
            <a:avLst/>
          </a:prstGeom>
          <a:ln w="15240">
            <a:solidFill>
              <a:srgbClr val="9AA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661629.5" y="4343400"/>
            <a:ext cx="0.0" cy="594360"/>
          </a:xfrm>
          <a:prstGeom prst="line">
            <a:avLst/>
          </a:prstGeom>
          <a:ln w="15240">
            <a:solidFill>
              <a:srgbClr val="9AA5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0" y="5074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alibri"/>
              </a:rPr>
              <a:t>si hubo tool call → siguiente paso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EVENTOS AUTOMÁTICOS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El agente puede arrancarse solo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62356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623560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422"/>
                </a:solidFill>
                <a:latin typeface="Georgia"/>
              </a:rPr>
              <a:t>Wall-clock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El reloj del mundo dispara una acción.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Ejemplos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“Da los buenos días a las 09:00”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“Manda el correo en 30 minutos”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“Comprueba el estado cada 10 min”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62356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623560" cy="64008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1422"/>
                </a:solidFill>
                <a:latin typeface="Georgia"/>
              </a:rPr>
              <a:t>Sleep-time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Cada N pasos del agente principal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7ECF5"/>
                </a:solidFill>
                <a:latin typeface="Calibri"/>
              </a:rPr>
              <a:t>se activa un agente auxiliar.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5BE"/>
                </a:solidFill>
                <a:latin typeface="Calibri"/>
              </a:rPr>
              <a:t>Ejemplos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251960"/>
            <a:ext cx="5074920" cy="18288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4389120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“Cada 10 turnos consolida memoria”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“Cada 20 mensajes revisa coherencia”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“Tras 50 turnos sin búsqueda, sugiere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E7ECF5"/>
                </a:solidFill>
                <a:latin typeface="Consolas"/>
              </a:rPr>
              <a:t> recuperar de archival”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ENCADENAR ACCIONES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request_heartbeat (LLMs antiguos) vs nativo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B44B"/>
                </a:solidFill>
                <a:latin typeface="Georgia"/>
              </a:rPr>
              <a:t>LEGACY · request_heartbeat=True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Argumento booleano en cualquier tool call.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Si está activo, MemGPT vuelve a invocar al LLM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aunque éste hubiera ‘parado’.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Evita que el modelo se rinda a medio buscar.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72000"/>
            <a:ext cx="4937760" cy="155448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47091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search_files(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  query="MyClass",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  request_heartbeat=True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57D0B2"/>
                </a:solidFill>
                <a:latin typeface="Georgia"/>
              </a:rPr>
              <a:t>NATIVE · LLMs modernos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Si la respuesta contiene tool_calls, se ejecutan.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Si no, es el mensaje final al usuario.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No hace falta booleano: el LLM decide.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5486400" cy="21488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86B7C"/>
                </a:solidFill>
                <a:latin typeface="Georgia"/>
              </a:rPr>
              <a:t>Protección contra bucles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4800600"/>
            <a:ext cx="118872" cy="118872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09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Límite de heartbeats por turno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5257800"/>
            <a:ext cx="118872" cy="118872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5166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Timeout wall-clock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5715000"/>
            <a:ext cx="118872" cy="118872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5623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7ECF5"/>
                </a:solidFill>
                <a:latin typeface="Calibri"/>
              </a:rPr>
              <a:t>Detección de tool calls repetidas sin progreso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7D0B2"/>
                </a:solidFill>
                <a:latin typeface="Calibri"/>
              </a:rPr>
              <a:t>MI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MemGPT sobre LangGraph, desde cero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09728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turn_init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331720" y="2103120"/>
            <a:ext cx="109728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1460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recall_sync_in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109728" cy="64008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pressure_check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109728" cy="64008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224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agent (LLM)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75320" y="2103120"/>
            <a:ext cx="109728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5820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step_tick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103120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0058400" y="2103120"/>
            <a:ext cx="109728" cy="64008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241280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recall_sync_post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2423160"/>
            <a:ext cx="0" cy="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14800" y="2423160"/>
            <a:ext cx="182880" cy="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2423160"/>
            <a:ext cx="228600" cy="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92440" y="2423160"/>
            <a:ext cx="182880" cy="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8400" y="2423160"/>
            <a:ext cx="0" cy="0"/>
          </a:xfrm>
          <a:prstGeom prst="line">
            <a:avLst/>
          </a:prstGeom>
          <a:ln w="19050">
            <a:solidFill>
              <a:srgbClr val="7C9C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0" y="32918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029200" y="3291840"/>
            <a:ext cx="109728" cy="640080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12080" y="34564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onsolas"/>
              </a:rPr>
              <a:t>tools + heartbeat_check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355080" y="2743200"/>
            <a:ext cx="822960" cy="548640"/>
          </a:xfrm>
          <a:prstGeom prst="line">
            <a:avLst/>
          </a:prstGeom>
          <a:ln w="19050">
            <a:solidFill>
              <a:srgbClr val="E8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200400" y="2743200"/>
            <a:ext cx="1828800" cy="777240"/>
          </a:xfrm>
          <a:prstGeom prst="line">
            <a:avLst/>
          </a:prstGeom>
          <a:ln w="19050">
            <a:solidFill>
              <a:srgbClr val="E8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2920" y="4297680"/>
            <a:ext cx="11247120" cy="196596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434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98348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LangGraph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StateGraph + MemGPTState (Pydantic)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40" y="4983480"/>
            <a:ext cx="2276856" cy="292608"/>
          </a:xfrm>
          <a:prstGeom prst="roundRect">
            <a:avLst>
              <a:gd name="adj" fmla="val 50000"/>
            </a:avLst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Postgres + pgvector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4406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PostgresSaver + EventStore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98348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Neo4j + Graphiti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4406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Recall + Archival con embeddings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6840" y="4983480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" bIns="18288"/>
          <a:lstStyle/>
          <a:p>
            <a:pPr algn="ctr"/>
            <a:r>
              <a:rPr sz="1100" b="1">
                <a:solidFill>
                  <a:srgbClr val="0E1422"/>
                </a:solidFill>
                <a:latin typeface="Calibri"/>
              </a:rPr>
              <a:t>MemFS in-memory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4406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9 tools versionadas (snapshot + SHA-1)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TOOLS DEL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Lo que el LLM puede llamar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7889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788920" cy="54864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1422"/>
                </a:solidFill>
                <a:latin typeface="Georgia"/>
              </a:rPr>
              <a:t>Core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9748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core_memory_append(label, content)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core_memory_replace(label, old, new)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7889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83280" y="1920240"/>
            <a:ext cx="2788920" cy="54864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1422"/>
                </a:solidFill>
                <a:latin typeface="Georgia"/>
              </a:rPr>
              <a:t>Recall &amp; Archival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69748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3320" y="27889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recall_memory_search(query, page)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24612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03320" y="333756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archival_memory_insert(content)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79476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03320" y="3886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archival_memory_search(query, page)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20240"/>
            <a:ext cx="27889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63640" y="1920240"/>
            <a:ext cx="2788920" cy="54864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0116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1422"/>
                </a:solidFill>
                <a:latin typeface="Georgia"/>
              </a:rPr>
              <a:t>MemFS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69748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0" y="27889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memfs.create / read / write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24612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memfs.list / move / delete / grep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79476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memfs.history / rollback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920240"/>
            <a:ext cx="2788920" cy="429768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144000" y="1920240"/>
            <a:ext cx="2788920" cy="548640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72600" y="20116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1422"/>
                </a:solidFill>
                <a:latin typeface="Georgia"/>
              </a:rPr>
              <a:t>Comunicación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2697480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64040" y="27889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7ECF5"/>
                </a:solidFill>
                <a:latin typeface="Consolas"/>
              </a:rPr>
              <a:t>send_message(text)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DECISIONES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Lo que aprendí construyéndolo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46304" cy="210312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0573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C9CFF"/>
                </a:solidFill>
                <a:latin typeface="Georgia"/>
              </a:rPr>
              <a:t>Bloques atómicos al expulsar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19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Nunca separar un AIMessage con tool_calls de sus ToolMessages.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Evita los bugs #111/#126 de langmem.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146304" cy="2103120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37960" y="20573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7D0B2"/>
                </a:solidFill>
                <a:latin typeface="Georgia"/>
              </a:rPr>
              <a:t>Recursive summary fuera de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19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Vive en su propio campo del estado y se inyecta como SystemMessage.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El reducer append-only no admite slots mutables.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19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4160519"/>
            <a:ext cx="146304" cy="2103120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3433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B44B"/>
                </a:solidFill>
                <a:latin typeface="Georgia"/>
              </a:rPr>
              <a:t>parallel_tool_calls =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19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Dos tools a la vez chocan en core_memory (un solo campo del state).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MemGPT está pensado para chaining, no fan-out.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19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17920" y="4160519"/>
            <a:ext cx="146304" cy="2103120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37960" y="434339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6B7C"/>
                </a:solidFill>
                <a:latin typeface="Georgia"/>
              </a:rPr>
              <a:t>Síncrono a propósito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46319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El grafo se invoca con .invoke(); mezclar nodos async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7ECF5"/>
                </a:solidFill>
                <a:latin typeface="Calibri"/>
              </a:rPr>
              <a:t>rompe con TypeError en LangGraph.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C9CFF"/>
                </a:solidFill>
                <a:latin typeface="Calibri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7ECF5"/>
                </a:solidFill>
                <a:latin typeface="Georgia"/>
              </a:rPr>
              <a:t>Qué te llevas de MemGPT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381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46304" cy="713232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LLM como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488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La ventana es RAM, lo externo es disco.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07208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2807208"/>
            <a:ext cx="146304" cy="713232"/>
          </a:xfrm>
          <a:prstGeom prst="rect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D0B2"/>
                </a:solidFill>
                <a:latin typeface="Georgia"/>
              </a:rPr>
              <a:t>Memoria jerárquica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99008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Working Context · FIFO · Recall · Archival · MemFS.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48456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3648456"/>
            <a:ext cx="146304" cy="713232"/>
          </a:xfrm>
          <a:prstGeom prst="rect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B44B"/>
                </a:solidFill>
                <a:latin typeface="Georgia"/>
              </a:rPr>
              <a:t>Auto-gestión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31336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El propio modelo decide qué guardar, qué buscar y cuántas veces.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89704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4489704"/>
            <a:ext cx="146304" cy="713232"/>
          </a:xfrm>
          <a:prstGeom prst="rect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86B7C"/>
                </a:solidFill>
                <a:latin typeface="Georgia"/>
              </a:rPr>
              <a:t>Control de flujo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67258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Queue Manager + umbrales (70 % avisa, 100 % expulsa y resume).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30952"/>
            <a:ext cx="11247120" cy="713232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5330952"/>
            <a:ext cx="146304" cy="713232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49554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9CFF"/>
                </a:solidFill>
                <a:latin typeface="Georgia"/>
              </a:rPr>
              <a:t>Eventos automáticos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513832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7ECF5"/>
                </a:solidFill>
                <a:latin typeface="Calibri"/>
              </a:rPr>
              <a:t>Wall-clock + sleep-time agents para consolidar sin usuario.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MemGPT · LLMs como sistemas operativos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AA5BE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880000">
            <a:off x="-1828800" y="-914400"/>
            <a:ext cx="6400800" cy="9144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20880000">
            <a:off x="-914400" y="457200"/>
            <a:ext cx="5486400" cy="7315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74320" y="1280160"/>
            <a:ext cx="2377440" cy="2377440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4389120"/>
            <a:ext cx="1463040" cy="1463040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4754880"/>
            <a:ext cx="1280160" cy="1280160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E7ECF5"/>
                </a:solidFill>
                <a:latin typeface="Georgia"/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AA5BE"/>
                </a:solidFill>
                <a:latin typeface="Calibri"/>
              </a:rPr>
              <a:t>Preguntas, comentarios, ideas.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114800"/>
            <a:ext cx="6858000" cy="2103120"/>
          </a:xfrm>
          <a:prstGeom prst="roundRect">
            <a:avLst>
              <a:gd name="adj" fmla="val 12000"/>
            </a:avLst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00600" y="42519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C9CFF"/>
                </a:solidFill>
                <a:latin typeface="Georgia"/>
              </a:rPr>
              <a:t>Recursos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4782312"/>
            <a:ext cx="109728" cy="109728"/>
          </a:xfrm>
          <a:prstGeom prst="ellipse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709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alibri"/>
              </a:rPr>
              <a:t>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7091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arXiv:2310.08560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5129784"/>
            <a:ext cx="109728" cy="109728"/>
          </a:xfrm>
          <a:prstGeom prst="ellipse">
            <a:avLst/>
          </a:prstGeom>
          <a:solidFill>
            <a:srgbClr val="57D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566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alibri"/>
              </a:rPr>
              <a:t>Letta (sucesor)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0566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github.com/letta-ai/letta</a:t>
            </a:r>
          </a:p>
        </p:txBody>
      </p:sp>
      <p:sp>
        <p:nvSpPr>
          <p:cNvPr id="18" name="Oval 17"/>
          <p:cNvSpPr/>
          <p:nvPr/>
        </p:nvSpPr>
        <p:spPr>
          <a:xfrm>
            <a:off x="4800600" y="5477256"/>
            <a:ext cx="109728" cy="109728"/>
          </a:xfrm>
          <a:prstGeom prst="ellipse">
            <a:avLst/>
          </a:prstGeom>
          <a:solidFill>
            <a:srgbClr val="F0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404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alibri"/>
              </a:rPr>
              <a:t>Mi implementación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40410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github.com/maximofn/memGPT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5824728"/>
            <a:ext cx="109728" cy="109728"/>
          </a:xfrm>
          <a:prstGeom prst="ellipse">
            <a:avLst/>
          </a:prstGeom>
          <a:solidFill>
            <a:srgbClr val="E8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7515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7ECF5"/>
                </a:solidFill>
                <a:latin typeface="Calibri"/>
              </a:rPr>
              <a:t>Blog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751576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A5BE"/>
                </a:solidFill>
                <a:latin typeface="Consolas"/>
              </a:rPr>
              <a:t>maximofn.com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